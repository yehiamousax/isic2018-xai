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Set</c:v>
                </c:pt>
              </c:strCache>
            </c:strRef>
          </c:tx>
          <c:spPr>
            <a:solidFill>
              <a:srgbClr val="E550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503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NV</c:v>
                  </c:pt>
                  <c:pt idx="1">
                    <c:v>MEL</c:v>
                  </c:pt>
                  <c:pt idx="2">
                    <c:v>BKL</c:v>
                  </c:pt>
                  <c:pt idx="3">
                    <c:v>BCC</c:v>
                  </c:pt>
                  <c:pt idx="4">
                    <c:v>AKIEC</c:v>
                  </c:pt>
                  <c:pt idx="5">
                    <c:v>VASC</c:v>
                  </c:pt>
                  <c:pt idx="6">
                    <c:v>DF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6705</c:v>
                </c:pt>
                <c:pt idx="1">
                  <c:v>1113</c:v>
                </c:pt>
                <c:pt idx="2">
                  <c:v>1099</c:v>
                </c:pt>
                <c:pt idx="3">
                  <c:v>514</c:v>
                </c:pt>
                <c:pt idx="4">
                  <c:v>327</c:v>
                </c:pt>
                <c:pt idx="5">
                  <c:v>142</c:v>
                </c:pt>
                <c:pt idx="6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MEL</c:v>
                  </c:pt>
                  <c:pt idx="1">
                    <c:v>NV</c:v>
                  </c:pt>
                  <c:pt idx="2">
                    <c:v>BCC</c:v>
                  </c:pt>
                  <c:pt idx="3">
                    <c:v>AKIEC</c:v>
                  </c:pt>
                  <c:pt idx="4">
                    <c:v>BKL</c:v>
                  </c:pt>
                  <c:pt idx="5">
                    <c:v>DF</c:v>
                  </c:pt>
                  <c:pt idx="6">
                    <c:v>VASC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6.02</c:v>
                </c:pt>
                <c:pt idx="1">
                  <c:v>1</c:v>
                </c:pt>
                <c:pt idx="2">
                  <c:v>13.04</c:v>
                </c:pt>
                <c:pt idx="3">
                  <c:v>20.5</c:v>
                </c:pt>
                <c:pt idx="4">
                  <c:v>6.1</c:v>
                </c:pt>
                <c:pt idx="5">
                  <c:v>58.3</c:v>
                </c:pt>
                <c:pt idx="6">
                  <c:v>47.22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MEL</c:v>
                  </c:pt>
                  <c:pt idx="1">
                    <c:v>NV</c:v>
                  </c:pt>
                  <c:pt idx="2">
                    <c:v>BCC</c:v>
                  </c:pt>
                  <c:pt idx="3">
                    <c:v>AKIEC</c:v>
                  </c:pt>
                  <c:pt idx="4">
                    <c:v>BKL</c:v>
                  </c:pt>
                  <c:pt idx="5">
                    <c:v>DF</c:v>
                  </c:pt>
                  <c:pt idx="6">
                    <c:v>VASC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5.32</c:v>
                </c:pt>
                <c:pt idx="1">
                  <c:v>1</c:v>
                </c:pt>
                <c:pt idx="2">
                  <c:v>9.77</c:v>
                </c:pt>
                <c:pt idx="3">
                  <c:v>21.14</c:v>
                </c:pt>
                <c:pt idx="4">
                  <c:v>4.19</c:v>
                </c:pt>
                <c:pt idx="5">
                  <c:v>20.66</c:v>
                </c:pt>
                <c:pt idx="6">
                  <c:v>25.97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Distribution: Images per Lesion ID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Lesions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image</c:v>
                  </c:pt>
                  <c:pt idx="1">
                    <c:v>2 images</c:v>
                  </c:pt>
                  <c:pt idx="2">
                    <c:v>3 images</c:v>
                  </c:pt>
                  <c:pt idx="3">
                    <c:v>4 images</c:v>
                  </c:pt>
                  <c:pt idx="4">
                    <c:v>5 images</c:v>
                  </c:pt>
                  <c:pt idx="5">
                    <c:v>6 images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5514</c:v>
                </c:pt>
                <c:pt idx="1">
                  <c:v>1423</c:v>
                </c:pt>
                <c:pt idx="2">
                  <c:v>490</c:v>
                </c:pt>
                <c:pt idx="3">
                  <c:v>34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Confirmation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A8A"/>
              </a:solidFill>
              <a:effectLst/>
            </c:spPr>
          </c:dPt>
          <c:dPt>
            <c:idx val="1"/>
            <c:bubble3D val="0"/>
            <c:spPr>
              <a:solidFill>
                <a:srgbClr val="1C9DB0"/>
              </a:solidFill>
              <a:effectLst/>
            </c:spPr>
          </c:dPt>
          <c:dPt>
            <c:idx val="2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Histopathology</c:v>
                </c:pt>
                <c:pt idx="1">
                  <c:v>Serial Imaging</c:v>
                </c:pt>
                <c:pt idx="2">
                  <c:v>Expert Consensus</c:v>
                </c:pt>
                <c:pt idx="3">
                  <c:v>Confocal Microscopy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53.32</c:v>
                </c:pt>
                <c:pt idx="1">
                  <c:v>36.98</c:v>
                </c:pt>
                <c:pt idx="2">
                  <c:v>9.01</c:v>
                </c:pt>
                <c:pt idx="3">
                  <c:v>0.69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Mean Quality Metrics by Split (0–1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Brightness</c:v>
                  </c:pt>
                  <c:pt idx="1">
                    <c:v>Contrast</c:v>
                  </c:pt>
                  <c:pt idx="2">
                    <c:v>Sharpness (norm.)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0.613</c:v>
                </c:pt>
                <c:pt idx="1">
                  <c:v>0.11</c:v>
                </c:pt>
                <c:pt idx="2">
                  <c:v>0.63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Brightness</c:v>
                  </c:pt>
                  <c:pt idx="1">
                    <c:v>Contrast</c:v>
                  </c:pt>
                  <c:pt idx="2">
                    <c:v>Sharpness (norm.)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</c:v>
                </c:pt>
                <c:pt idx="1">
                  <c:v>0.101</c:v>
                </c:pt>
                <c:pt idx="2">
                  <c:v>0.607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1C9D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Brightness</c:v>
                  </c:pt>
                  <c:pt idx="1">
                    <c:v>Contrast</c:v>
                  </c:pt>
                  <c:pt idx="2">
                    <c:v>Sharpness (norm.)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0.62</c:v>
                </c:pt>
                <c:pt idx="1">
                  <c:v>0.116</c:v>
                </c:pt>
                <c:pt idx="2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Normalized Artifact Burden per Class (0=low, 1=high)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Hair Score (norm.)</c:v>
                </c:pt>
              </c:strCache>
            </c:strRef>
          </c:tx>
          <c:spPr>
            <a:solidFill>
              <a:srgbClr val="0A3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MEL</c:v>
                  </c:pt>
                  <c:pt idx="1">
                    <c:v>NV</c:v>
                  </c:pt>
                  <c:pt idx="2">
                    <c:v>BCC</c:v>
                  </c:pt>
                  <c:pt idx="3">
                    <c:v>AKIEC</c:v>
                  </c:pt>
                  <c:pt idx="4">
                    <c:v>BKL</c:v>
                  </c:pt>
                  <c:pt idx="5">
                    <c:v>DF</c:v>
                  </c:pt>
                  <c:pt idx="6">
                    <c:v>VASC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0.44</c:v>
                </c:pt>
                <c:pt idx="2">
                  <c:v>0.59</c:v>
                </c:pt>
                <c:pt idx="3">
                  <c:v>0.79</c:v>
                </c:pt>
                <c:pt idx="4">
                  <c:v>0.86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Highlight Score (norm.)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MEL</c:v>
                  </c:pt>
                  <c:pt idx="1">
                    <c:v>NV</c:v>
                  </c:pt>
                  <c:pt idx="2">
                    <c:v>BCC</c:v>
                  </c:pt>
                  <c:pt idx="3">
                    <c:v>AKIEC</c:v>
                  </c:pt>
                  <c:pt idx="4">
                    <c:v>BKL</c:v>
                  </c:pt>
                  <c:pt idx="5">
                    <c:v>DF</c:v>
                  </c:pt>
                  <c:pt idx="6">
                    <c:v>VASC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0.74</c:v>
                </c:pt>
                <c:pt idx="1">
                  <c:v>0.86</c:v>
                </c:pt>
                <c:pt idx="2">
                  <c:v>0.15</c:v>
                </c:pt>
                <c:pt idx="3">
                  <c:v>0.43</c:v>
                </c:pt>
                <c:pt idx="4">
                  <c:v>0.04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Absolute Cohen's d Effect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vs Test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Brightness</c:v>
                  </c:pt>
                  <c:pt idx="1">
                    <c:v>Contrast</c:v>
                  </c:pt>
                  <c:pt idx="2">
                    <c:v>Sharpness</c:v>
                  </c:pt>
                  <c:pt idx="3">
                    <c:v>Hair Score</c:v>
                  </c:pt>
                  <c:pt idx="4">
                    <c:v>Highlight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0.091</c:v>
                </c:pt>
                <c:pt idx="1">
                  <c:v>0.141</c:v>
                </c:pt>
                <c:pt idx="2">
                  <c:v>0.21</c:v>
                </c:pt>
                <c:pt idx="3">
                  <c:v>0.208</c:v>
                </c:pt>
                <c:pt idx="4">
                  <c:v>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vs Test</c:v>
                </c:pt>
              </c:strCache>
            </c:strRef>
          </c:tx>
          <c:spPr>
            <a:solidFill>
              <a:srgbClr val="E550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Brightness</c:v>
                  </c:pt>
                  <c:pt idx="1">
                    <c:v>Contrast</c:v>
                  </c:pt>
                  <c:pt idx="2">
                    <c:v>Sharpness</c:v>
                  </c:pt>
                  <c:pt idx="3">
                    <c:v>Hair Score</c:v>
                  </c:pt>
                  <c:pt idx="4">
                    <c:v>Highlight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0.006</c:v>
                </c:pt>
                <c:pt idx="1">
                  <c:v>0.337</c:v>
                </c:pt>
                <c:pt idx="2">
                  <c:v>0.298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50" b="0" i="0" u="none" strike="noStrike">
                <a:solidFill>
                  <a:srgbClr val="000000"/>
                </a:solidFill>
                <a:latin typeface="Arial"/>
              </a:rPr>
              <a:t>Attribute Non-Empty Rate (%) — 5 Dermoscopic Features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Non-Empty Rate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9D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9D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9D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9DB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Pigment
Network</c:v>
                  </c:pt>
                  <c:pt idx="1">
                    <c:v>Globules</c:v>
                  </c:pt>
                  <c:pt idx="2">
                    <c:v>Milia-like
Cyst</c:v>
                  </c:pt>
                  <c:pt idx="3">
                    <c:v>Negative
Network</c:v>
                  </c:pt>
                  <c:pt idx="4">
                    <c:v>Streaks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52.79</c:v>
                </c:pt>
                <c:pt idx="1">
                  <c:v>19.63</c:v>
                </c:pt>
                <c:pt idx="2">
                  <c:v>19.71</c:v>
                </c:pt>
                <c:pt idx="3">
                  <c:v>6.61</c:v>
                </c:pt>
                <c:pt idx="4">
                  <c:v>4.11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C9DB0">
              <a:alpha val="70000"/>
            </a:srgbClr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MASTER'S THESIS · APRIL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Evaluation of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Methods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CNN and Vision Transformer Architectures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Skin Lesion Classification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5303520" cy="36576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73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5"/>
                </a:solidFill>
              </a:rPr>
              <a:t>ISIC 2018 Dataset  ·  EDA Stage  ·  Pipeline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0"/>
                </a:solidFill>
              </a:rPr>
              <a:t>Yehia  ·  M.Sc. Artificial Intelligence  ·  Field: XAI in Medical Imaging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160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EDA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41605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4160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⏳  Pipeline Planned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Trust the Model?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72768"/>
            <a:ext cx="26517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642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Architectural Fragmentation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724912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CNN (Grad-CAM) and Transformer (Attention Rollout) XAI methods are evaluated in complete isolation. No cross-architecture comparison exists.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572768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72768"/>
            <a:ext cx="26517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6642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82696" y="21762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Single-Dimension Evaluation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2696" y="2724912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Most studies use only spatial plausibility or faithfulness — never both. A plausible heatmap can still be causally wrong.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1572768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572768"/>
            <a:ext cx="26517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16642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35624" y="21762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No Standardised Protocol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35624" y="2724912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Binarization thresholds, perturbation baselines, and sampling sizes vary wildly across papers, making comparisons meaningless.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805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Objective: Build the first unified, cross-architecture, multi-dimensional XAI evaluation framework for dermatological AI.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</a:rPr>
              <a:t>Four Guiding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658368" cy="7315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Faithfulness by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81051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Do CNN-based or Vision Transformer-based architectures produce more faithful explanations, measured by AOPC and Insertion/Deletion AUC?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04288"/>
            <a:ext cx="658368" cy="7315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04288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350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Architecture-Specific vs. Agnostic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6517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Do architecture-specific methods (Grad-CAM for CNNs; Attention Rollout for ViTs) outperform model-agnostic methods (LIME, SHAP) on the same model?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45536"/>
            <a:ext cx="658368" cy="7315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4553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191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Faithfulness–Plausibility Trade-off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4930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Is there a measurable trade-off between faithfulness and plausibility? Which combinations achieve the best balance?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86784"/>
            <a:ext cx="658368" cy="7315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86784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40325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Best Overall XAI 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43342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Which model–XAI combination offers the best overall profile across all four dimensions: faithfulness, plausibility, robustness, and complexity?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</a:rPr>
              <a:t>ISIC 2018 Challenge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11704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11,720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Total Images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(train + val + test)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65960" cy="11704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08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2084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Diagnostic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Classes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463040"/>
            <a:ext cx="1965960" cy="11704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508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3,694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2084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Plausibility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Masks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463040"/>
            <a:ext cx="1965960" cy="11704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508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16,104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084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Fine-Grained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Attribute Maps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Data Splits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27248"/>
          <a:ext cx="411480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8288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10,015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Model fine-tuning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Early stopping &amp; tuning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1,512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Final XAI evaluation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788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7 Diagnostic Classes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3440" y="312724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MEL — Melanoma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NV — Melanocytic Nevus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BCC — Basal Cell Carcinoma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AKIEC — Actinic Keratosis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BKL — Benign Keratosis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DF — Dermatofibroma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VASC — Vascular Lesion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DATA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</a:rPr>
              <a:t>All 18 Integrity Checks Passed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Image 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Train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Val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0" y="1463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8503920" cy="420624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1109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CSV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9110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Train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9110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Val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0" y="19110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91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One-Hot Sum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359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Train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359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Val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2359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8503920" cy="420624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072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File Existence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8072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Train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8072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Val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9440" y="28072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255264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5526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Corrupt Images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3255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0 Train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3255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0 Val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9440" y="3255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0 Test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420624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0332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Mask Pairing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37033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3,694 masks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151376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Attribute Names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08960" y="41513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✓ 5 types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corrupt images detected across all splits — dataset is fully intact and ready for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CLASS DISTRIBUTION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Severe Class Imbalance — NV Dominates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716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371600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371600"/>
            <a:ext cx="64008" cy="7498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98464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Max Imbalance Ratio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98464" y="1645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58.3×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16824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NV vs. DF (train set)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2212848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212848"/>
            <a:ext cx="64008" cy="7498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98464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Majority Class (NV)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98464" y="24871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66.9%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23760" y="25237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 all training samples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52160" y="3054096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3054096"/>
            <a:ext cx="64008" cy="7498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3099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Smallest Class (DF)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98464" y="33284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1.1%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23760" y="3364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only 115 images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3895344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3895344"/>
            <a:ext cx="64008" cy="7498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Distribution Entropy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98464" y="416966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1.63 bits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2376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vs. 2.81 bits if balanced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D7A8A">
              <a:alpha val="9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Impact: Weighted sampling + class-weighted loss required. WeightedRandomSampler applied during training.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IMBALANCE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Imbalance Ratios Per Class Across Splits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41732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41732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17320"/>
            <a:ext cx="64008" cy="9601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DF: 58.3× rarest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7647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Dermatofibroma is 58× more rare than NV in training — model will almost never see it naturally.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251460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514600"/>
            <a:ext cx="64008" cy="9601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VASC: 47.2× rarer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862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Vascular lesions are also severely underrepresented, requiring oversampling.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361188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611880"/>
            <a:ext cx="64008" cy="960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Consistent split entropy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959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Jensen-Shannon divergence between splits is &lt; 0.008 — splits are well-balanced relative to each other.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Decision → Use Focal Loss instead of standard cross-entropy to focus training on minority, hard-to-classify cases.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LESION GROUPING &amp; LABEL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Patient-Level Leakage Risk Assessment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96596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904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7,470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Unique Lesion IDs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444752"/>
            <a:ext cx="196596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904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26.2%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993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Lesions with &gt;1 Image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444752"/>
            <a:ext cx="196596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904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1.34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993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Avg Images / Lesion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444752"/>
            <a:ext cx="196596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4904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993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Max Images per Lesion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2514600"/>
          <a:ext cx="51206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Label Confirmation Methods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577840" y="2816352"/>
          <a:ext cx="3200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Risk: 46.7% of labels are NOT histopathology-confirmed. A sensitivity analysis by confirmation type is planned.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IMAGE QUALITY &amp; COLORIMETRY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Cross-Split Quality Metrics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417320"/>
          <a:ext cx="5303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Train RGB Channel Means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82880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828800"/>
            <a:ext cx="2343379" cy="621792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9933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Red: 0.765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2578608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578608"/>
            <a:ext cx="1666403" cy="621792"/>
          </a:xfrm>
          <a:prstGeom prst="rect">
            <a:avLst/>
          </a:prstGeom>
          <a:solidFill>
            <a:srgbClr val="1E8449">
              <a:alpha val="70000"/>
            </a:srgbClr>
          </a:solidFill>
          <a:ln w="12700">
            <a:solidFill>
              <a:srgbClr val="1E8449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2743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Green: 0.544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3328416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3328416"/>
            <a:ext cx="1739920" cy="621792"/>
          </a:xfrm>
          <a:prstGeom prst="rect">
            <a:avLst/>
          </a:prstGeom>
          <a:solidFill>
            <a:srgbClr val="2980B9">
              <a:alpha val="70000"/>
            </a:srgbClr>
          </a:solidFill>
          <a:ln w="12700">
            <a:solidFill>
              <a:srgbClr val="2980B9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3872" y="34930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Blue: 0.568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60720" y="4160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E50"/>
                </a:solidFill>
              </a:rPr>
              <a:t>Key: Test set has slightly higher sharpness (700 vs 630 train), suggesting image acquisition differences.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Impact: RGB means (0.765, 0.544, 0.568) and std (0.14, 0.16, 0.18) computed from 2,000-image sample for normalization.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ARTIFACT BURDEN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Dermatoscopy Artifacts by Class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417320"/>
            <a:ext cx="2834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4538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🔴  Hair Artifacts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74650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MEL &amp; DF classes have the highest hair burden (score=1.0). This can cause XAI methods to highlight hair instead of lesion features.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423160"/>
            <a:ext cx="2834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4597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🟡  Highlights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7523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DF has the highest specular highlight score — dermoscopy flashback artifacts that may mislead gradient-based XAI methods.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429000"/>
            <a:ext cx="2834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346557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</a:rPr>
              <a:t>🟢  VASC Class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375818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Vascular lesions show minimal artifact burden (all scores~0), suggesting cleaner imaging conditions.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Risk: Artifacts in high-hair classes (MEL, DF) could cause XAI methods to attribute importance to non-clinical features.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DISTRIBUTION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KS-Test &amp; Cohen's d Across Split Pairs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41732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Significant Shifts (p &lt; 0.05)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783080"/>
          <a:ext cx="2834640" cy="228600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1143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Pair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train→test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Contrast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d=0.14 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train→test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Sharpness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d=0.21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train→test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Hair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d=0.21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val→test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Contrast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d=0.34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val→test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Sharpness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d=0.30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89320" y="4160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E50"/>
                </a:solidFill>
              </a:rPr>
              <a:t>Aspect ratio: zero shift (all images are pre-resized to 4:3). No alignment correction needed.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8 of 14 comparisons are statistically significant. Largest shift: val→test contrast (d=0.34). Augmentation plan accounts for this.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PLAUSIBILITY COVERAGE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Ground-Truth Masks &amp; Attribute Coverage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9601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3,694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Lesion Masks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(binary segmentation)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65960" cy="9601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3,677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Images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Any Attribute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463040"/>
            <a:ext cx="1965960" cy="9601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2,671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Images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EF5"/>
                </a:solidFill>
              </a:rPr>
              <a:t>Non-Empty Attribute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463040"/>
            <a:ext cx="1965960" cy="9601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19.1%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Very Small Lesions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(&lt; 5% image area)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2542032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760720" y="2542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Lesion Area Distribution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60720" y="2926080"/>
            <a:ext cx="3063240" cy="36576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33872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Mean area: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406640" y="2926080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D62"/>
                </a:solidFill>
              </a:rPr>
              <a:t>23.3% of image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60720" y="3364992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33872" y="3364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Median area: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06640" y="3364992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D62"/>
                </a:solidFill>
              </a:rPr>
              <a:t>16.5% of image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60720" y="3803904"/>
            <a:ext cx="3063240" cy="36576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33872" y="38039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&lt; 5% (tiny):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406640" y="3803904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D62"/>
                </a:solidFill>
              </a:rPr>
              <a:t>19.1% of masks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60720" y="4242816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42428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Max area: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06640" y="4242816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D62"/>
                </a:solidFill>
              </a:rPr>
              <a:t>100% (full image)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Plan: Stratify plausibility evaluation by lesion size. Small lesions (&lt; 5%) may produce artificially low IoU scores.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EDA · DUPLICATE RISK &amp; FINAL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Leakage &amp; Duplicate Risk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691640" cy="9601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Exact Duplicates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(total)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463040"/>
            <a:ext cx="1691640" cy="960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08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0" y="20299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Cross-Split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Duplicates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1691640" cy="9601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508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206240" y="20299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Near-Duplicate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Train/Test Pairs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Near-Duplicate Pairs (Hamming Distance = 4):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44368"/>
          <a:ext cx="5029200" cy="18288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0972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Train Image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Image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Hamming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ISIC_0024352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ISIC_0035065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ISIC_0024375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ISIC_0035614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ISIC_0024404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ISIC_0035157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ISIC_0024541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ISIC_0034917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ISIC_0024594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ISIC_0035343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1463040"/>
            <a:ext cx="310896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1554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Assessment Summary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60720" y="196596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</a:rPr>
              <a:t>✓  No corrupt images in any split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</a:rPr>
              <a:t>✓  Exact duplicates do not cross splits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5039"/>
                </a:solidFill>
              </a:rPr>
              <a:t>⚠  5 near-duplicate train/test pairs found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5039"/>
                </a:solidFill>
              </a:rPr>
              <a:t>⚠  Patient-level images may inflate test scores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</a:rPr>
              <a:t>✓  Lesion IDs available for per-patient analysis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</a:rPr>
              <a:t>✓  One-hot labels are valid (sum=1 per row)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Action: The 5 near-duplicate pairs will be flagged. Per-patient XAI evaluation will use lesion_id grouping.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EDA SUMMARY — KEY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the Data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544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⚡ 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 Imbalance is Extreme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58.3× ratio (DF vs NV). Standard cross-entropy will fail. Focal Loss + WeightedRandomSampler is required.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4630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4630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5544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✅ 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is Clean &amp; Reliable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82696" y="2148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17/18 integrity checks passed. Zero corrupt images. All file paths verified. Safe to proceed to training.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4630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14630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5544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⚠️ 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Artifact Risk in MEL &amp; DF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35624" y="2148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High hair/highlight scores in Melanoma and Dermatofibroma classes — XAI may highlight artifacts, not features.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632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546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📊  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4290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Significant Distribution Shift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7490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8/14 KS-tests significant (p&lt;0.05). Val→Test contrast shift is largest (d=0.34). Augmentation strategy chosen accordingly.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30632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30632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1546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🗺️  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82696" y="34290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Rich Plausibility Ground Truth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82696" y="37490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3,694 segmentation masks + 16,104 attribute maps enable both L1 (boundary) and L2 (feature-level) XAI evaluation.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3063240"/>
            <a:ext cx="2651760" cy="146304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25896" y="3063240"/>
            <a:ext cx="2651760" cy="45720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31546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🔬  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34290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Label Confidence Risk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35624" y="37490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5"/>
                </a:solidFill>
              </a:rPr>
              <a:t>46.7% of training labels are NOT histopathology-confirmed. A sensitivity analysis by confirmation type is planned.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PLANNED PIPELINE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Multi-Phase Evaluation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932688" cy="21945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&amp; EDA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52728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1463040"/>
            <a:ext cx="932688" cy="21945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08176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Training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08176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40864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1463040"/>
            <a:ext cx="932688" cy="21945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96312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XAI Methods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⏳ Next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29000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4448" y="1463040"/>
            <a:ext cx="932688" cy="219456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584448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Faithfulness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84448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🔲 Planned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17136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1463040"/>
            <a:ext cx="932688" cy="219456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72584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Plausibility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72584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🔲 Planned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05272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463040"/>
            <a:ext cx="932688" cy="219456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760720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Robustness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🔲 Planned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3408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1463040"/>
            <a:ext cx="932688" cy="219456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848856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Analysis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48856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🔲 Planned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81544" y="2560320"/>
            <a:ext cx="155448" cy="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36992" y="1463040"/>
            <a:ext cx="932688" cy="219456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1508760"/>
            <a:ext cx="932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936992" y="2057400"/>
            <a:ext cx="932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Ablations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36992" y="265176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🔲 Planned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0" y="3840480"/>
            <a:ext cx="274320" cy="228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Completed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49040" y="3840480"/>
            <a:ext cx="274320" cy="228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In Progress / Next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3840480"/>
            <a:ext cx="274320" cy="22860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Planned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Phase C: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Implement 6 XAI methods: Grad-CAM, HiResCAM, LIME, KernelSHAP, Attention Rollout, AttnLRP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Phases D–F: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Compute AOPC, Insertion/Deletion AUC, IoU/Dice/Pointing Game, Max-Sensitivity, Entropy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Phases G–H: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Cross-model analysis, radar charts, statistical tests, ablation studies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PLANNED PIPELINE · MODELS &amp; XAI 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62"/>
                </a:solidFill>
              </a:rPr>
              <a:t>4 Architectures × 6 XAI Methods = 16 Evaluable Cells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659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5727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727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CNN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62"/>
                </a:solidFill>
              </a:rPr>
              <a:t>EfficientNet-B0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2221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A"/>
                </a:solidFill>
              </a:rPr>
              <a:t>5.3M params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Compound-scaled; strong dermatology 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63040"/>
            <a:ext cx="19659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5727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5727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CNN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42032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62"/>
                </a:solidFill>
              </a:rPr>
              <a:t>DenseNet-121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2221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A"/>
                </a:solidFill>
              </a:rPr>
              <a:t>8.0M params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Dense connectivity; widely cited in medical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46304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463040"/>
            <a:ext cx="196596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15727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15727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0872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62"/>
                </a:solidFill>
              </a:rPr>
              <a:t>ViT-Base/16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90872" y="2221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A"/>
                </a:solidFill>
              </a:rPr>
              <a:t>86M params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0872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Pure attention transformer; global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46304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463040"/>
            <a:ext cx="196596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15727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15727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39712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62"/>
                </a:solidFill>
              </a:rPr>
              <a:t>Swin-Tiny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39712" y="2221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A"/>
                </a:solidFill>
              </a:rPr>
              <a:t>29M params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39712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Shifted-window ViT; bridges CNN &amp; ViT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3063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XAI Method Applicability Matrix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29000"/>
          <a:ext cx="8503920" cy="146304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417320"/>
                <a:gridCol w="1417320"/>
                <a:gridCol w="1417320"/>
                <a:gridCol w="1417320"/>
              </a:tblGrid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EfficientNet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DenseNet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ViT-Base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Swin-T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Grad-CAM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Gradient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HiResCAM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Gradient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Agnostic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KernelSHAP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Agnostic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Attention Rollout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Transformer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AttnLRP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Transformer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PLANNED PIPELINE · EVALUATION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4 Evaluation Dimensions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85800" cy="8046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538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Faithfulness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46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A8A"/>
                </a:solidFill>
              </a:rPr>
              <a:t>AOPC  ·  Insertion AUC  ·  Deletion AUC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0" y="145389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Does the explanation reflect actual model reasoning? Pixels masked by importance rank — confidence drop is measured.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0" y="1453896"/>
            <a:ext cx="1051560" cy="73152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1453896"/>
            <a:ext cx="1014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D62"/>
                </a:solidFill>
              </a:rPr>
              <a:t>EDA Link: Correct-classification subsets only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13432"/>
            <a:ext cx="685800" cy="804672"/>
          </a:xfrm>
          <a:prstGeom prst="rect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13432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50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Plausibility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426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9DB0"/>
                </a:solidFill>
              </a:rPr>
              <a:t>IoU@{0.3,0.5,0.7}  ·  Dice  ·  Pointing Game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3500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Does the heatmap align with the clinician-annotated lesion mask? Uses 3,694 binary segmentation masks.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2350008"/>
            <a:ext cx="1051560" cy="73152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2350008"/>
            <a:ext cx="1014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D62"/>
                </a:solidFill>
              </a:rPr>
              <a:t>EDA Link: 19.1% tiny lesions need stratification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320954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09544"/>
            <a:ext cx="685800" cy="8046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09544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46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Robustness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387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3D62"/>
                </a:solidFill>
              </a:rPr>
              <a:t>Max-Sensitivity (L₂ norm)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32461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Does the explanation stay stable under small input perturbations? N=50 Gaussian noise samples per image (σ=0.01).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3246120"/>
            <a:ext cx="1051560" cy="73152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3246120"/>
            <a:ext cx="1014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D62"/>
                </a:solidFill>
              </a:rPr>
              <a:t>EDA Link: Distribution shift noted across splits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410565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05656"/>
            <a:ext cx="68580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05656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142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Complexity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4348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Explanation Entropy (bits)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89120" y="414223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Is the explanation focused or diffuse? Shannon entropy of normalised attribution map. Lower = more clinically useful.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4142232"/>
            <a:ext cx="1051560" cy="731520"/>
          </a:xfrm>
          <a:prstGeom prst="rect">
            <a:avLst/>
          </a:prstGeom>
          <a:solidFill>
            <a:srgbClr val="D6EEF5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4142232"/>
            <a:ext cx="1014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D62"/>
                </a:solidFill>
              </a:rPr>
              <a:t>EDA Link: Artifact classes may produce diffuse maps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EEF5"/>
                </a:solidFill>
              </a:rPr>
              <a:t>PROJECT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16-Week Research Schedule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2953512"/>
            <a:ext cx="8503920" cy="7315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097280" cy="12618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1–2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Setup &amp;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6EEF5"/>
                </a:solidFill>
              </a:rPr>
              <a:t>✓ EDA complete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862072"/>
            <a:ext cx="256032" cy="25603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1417320"/>
            <a:ext cx="1097280" cy="12618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3–5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36192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Training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36192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6EEF5"/>
                </a:solidFill>
              </a:rPr>
              <a:t>✓ 4 models trained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47672" y="2862072"/>
            <a:ext cx="256032" cy="25603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1417320"/>
            <a:ext cx="1097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</a:rPr>
              <a:t>Wk 5–7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52344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3D62"/>
                </a:solidFill>
              </a:rPr>
              <a:t>XAI Implementation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52344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Next step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63824" y="2862072"/>
            <a:ext cx="256032" cy="256032"/>
          </a:xfrm>
          <a:prstGeom prst="ellipse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68496" y="1417320"/>
            <a:ext cx="1097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68496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</a:rPr>
              <a:t>Wk 7–9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68496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3D62"/>
                </a:solidFill>
              </a:rPr>
              <a:t>Metric Implementation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68496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AOPC, IoU, etc.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79976" y="2862072"/>
            <a:ext cx="256032" cy="256032"/>
          </a:xfrm>
          <a:prstGeom prst="ellipse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1417320"/>
            <a:ext cx="1097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</a:rPr>
              <a:t>Wk 9–11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84648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3D62"/>
                </a:solidFill>
              </a:rPr>
              <a:t>Full Evaluation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~8–13 hrs on T4 GPU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96128" y="2862072"/>
            <a:ext cx="256032" cy="256032"/>
          </a:xfrm>
          <a:prstGeom prst="ellipse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417320"/>
            <a:ext cx="1097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</a:rPr>
              <a:t>Wk 11–13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3D62"/>
                </a:solidFill>
              </a:rPr>
              <a:t>Analysis &amp; Viz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Radar charts, stats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2862072"/>
            <a:ext cx="256032" cy="256032"/>
          </a:xfrm>
          <a:prstGeom prst="ellipse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16952" y="1417320"/>
            <a:ext cx="10972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</a:rPr>
              <a:t>Wk 13–16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16952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3D62"/>
                </a:solidFill>
              </a:rPr>
              <a:t>Writing &amp; Submission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16952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Thesis document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28432" y="2862072"/>
            <a:ext cx="256032" cy="256032"/>
          </a:xfrm>
          <a:prstGeom prst="ellipse">
            <a:avLst/>
          </a:prstGeom>
          <a:solidFill>
            <a:srgbClr val="1C9DB0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36192" y="2697480"/>
            <a:ext cx="36576" cy="502920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2450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5039"/>
                </a:solidFill>
              </a:rPr>
              <a:t>◀ NOW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" y="3246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</a:rPr>
              <a:t>Key Risks &amp; Mitigations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11880"/>
          <a:ext cx="8503920" cy="118872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8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LIME/KernelSHAP too slow for full test 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Evaluate on stratified N=500 subset; cache heatmaps to .npy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Kaggle 12-hour GPU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Split into 2 notebooks: Training + XAI vs. Metrics + 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ViT may underperform on small 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Strong ImageNet pretraining; Swin-T designed for smaller 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CONCLUSION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Where We Are &amp; Where We're Going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3977640" cy="324612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39776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COMPLETED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38528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Full EDA across 11,720 images — integrity verified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Class distribution analysed — imbalance ratio 58.3×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Lesion grouping &amp; patient leakage risk identified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Image quality, colorimetry &amp; artifact burden profiled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Distribution shift quantified — 8/14 tests significant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Plausibility ground truth indexed — 3,694 masks ready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All 4 model architectures trained &amp; evaluated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Preprocessing decisions justified by EDA findings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977640" cy="3246120"/>
          </a:xfrm>
          <a:prstGeom prst="rect">
            <a:avLst/>
          </a:prstGeom>
          <a:solidFill>
            <a:srgbClr val="0D4F6B"/>
          </a:solidFill>
          <a:ln w="12700">
            <a:solidFill>
              <a:srgbClr val="1C9D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08760"/>
            <a:ext cx="39776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⏳  NEXT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938528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C: Implement all 6 XAI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D: Compute AOPC, Insertion/Deletion AUC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E: IoU, Dice, Pointing Game with 3,694 masks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F: Max-Sensitivity &amp; Explanation Entropy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G: Cross-model comparison matrix &amp; radar charts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H: Threshold sweep &amp; per-class ablations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Phase I: Kaggle export &amp; reproducible notebook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6EEF5"/>
                </a:solidFill>
              </a:rPr>
              <a:t>Thesis writing — target submission in 8 weeks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The EDA foundation is complete. The path to the first cross-architecture, multi-dimensional XAI evaluation in dermatology is clear.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Multi-Dimensional XAI Evaluation — ISIC 2018 EDA</dc:title>
  <dc:subject>PptxGenJS Presentation</dc:subject>
  <dc:creator>Yehia</dc:creator>
  <cp:lastModifiedBy>Yehia</cp:lastModifiedBy>
  <cp:revision>1</cp:revision>
  <dcterms:created xsi:type="dcterms:W3CDTF">2026-04-15T01:56:45Z</dcterms:created>
  <dcterms:modified xsi:type="dcterms:W3CDTF">2026-04-15T01:56:45Z</dcterms:modified>
</cp:coreProperties>
</file>